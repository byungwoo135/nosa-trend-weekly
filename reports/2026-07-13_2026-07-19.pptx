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6858000" cy="176662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laborseoul.com/post/2027%EB%85%84-%EC%A0%81%EC%9A%A9-%EC%B5%9C%EC%A0%80%EC%9E%84%EA%B8%88-%EA%B2%B0%EC%A0%95-%EC%95%88%EB%82%B4-%EC%8B%9C%EA%B8%89-10-700%EC%9B%90-%EC%9B%94-%ED%99%98%EC%82%B0%EC%95%A1-2-236-300%EC%9B%90" TargetMode="External"/><Relationship Id="rId3" Type="http://schemas.openxmlformats.org/officeDocument/2006/relationships/hyperlink" Target="https://www.newspim.com/news/view/20260713000801" TargetMode="External"/><Relationship Id="rId4" Type="http://schemas.openxmlformats.org/officeDocument/2006/relationships/hyperlink" Target="https://www.etoday.co.kr/news/view/2603240" TargetMode="External"/><Relationship Id="rId5" Type="http://schemas.openxmlformats.org/officeDocument/2006/relationships/hyperlink" Target="https://www.ajunews.com/view/20260715143637317" TargetMode="External"/><Relationship Id="rId6" Type="http://schemas.openxmlformats.org/officeDocument/2006/relationships/hyperlink" Target="https://www.newspim.com/news/view/20260715001200" TargetMode="External"/><Relationship Id="rId7" Type="http://schemas.openxmlformats.org/officeDocument/2006/relationships/hyperlink" Target="https://www.fnnews.com/news/202607081742091849" TargetMode="External"/><Relationship Id="rId8" Type="http://schemas.openxmlformats.org/officeDocument/2006/relationships/hyperlink" Target="https://www.asiatoday.co.kr/kn/view.php?key=20260713010004353" TargetMode="External"/><Relationship Id="rId9" Type="http://schemas.openxmlformats.org/officeDocument/2006/relationships/hyperlink" Target="https://www.ajunews.com/view/20260716143356908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7666208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417320"/>
          </a:xfrm>
          <a:prstGeom prst="rect">
            <a:avLst/>
          </a:prstGeom>
          <a:gradFill rotWithShape="1">
            <a:gsLst>
              <a:gs pos="0">
                <a:srgbClr val="5F0080"/>
              </a:gs>
              <a:gs pos="100000">
                <a:srgbClr val="3D0053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6858000" cy="45720"/>
          </a:xfrm>
          <a:prstGeom prst="rect">
            <a:avLst/>
          </a:prstGeom>
          <a:solidFill>
            <a:srgbClr val="FF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F7B3C"/>
                </a:solidFill>
                <a:latin typeface="Malgun Gothic"/>
                <a:ea typeface="Malgun Gothic"/>
                <a:cs typeface="Malgun Gothic"/>
              </a:rPr>
              <a:t>WEEKLY HR TREND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노사동향 주간 리포트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59436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E3C6F0"/>
                </a:solidFill>
                <a:latin typeface="Malgun Gothic"/>
                <a:ea typeface="Malgun Gothic"/>
                <a:cs typeface="Malgun Gothic"/>
              </a:rPr>
              <a:t>2026.07.13 ~ 2026.07.19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64208"/>
            <a:ext cx="5943600" cy="2761488"/>
          </a:xfrm>
          <a:prstGeom prst="roundRect">
            <a:avLst>
              <a:gd name="adj" fmla="val 6000"/>
            </a:avLst>
          </a:prstGeom>
          <a:solidFill>
            <a:srgbClr val="F2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64208"/>
            <a:ext cx="54864" cy="2761488"/>
          </a:xfrm>
          <a:prstGeom prst="rect">
            <a:avLst/>
          </a:prstGeom>
          <a:solidFill>
            <a:srgbClr val="5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65376"/>
            <a:ext cx="5541264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F0080"/>
                </a:solidFill>
                <a:latin typeface="Malgun Gothic"/>
                <a:ea typeface="Malgun Gothic"/>
                <a:cs typeface="Malgun Gothic"/>
              </a:rPr>
              <a:t>📌 이번 주 한눈에 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3969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●  2027년 최저임금이 10,700원으로 확정되며 물류·유통 현장의 인건비 부담이 커졌다.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●  노란봉투법 시행 후 첫 총파업(민주노총)과 울산지노위의 현대차 사용자성 인정으로 원청 책임 확대 흐름이 본격화됐다.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01568"/>
            <a:ext cx="5394960" cy="7132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●  홈플러스는 기습 휴업 반발과 자금난 속에서도 극적으로 파산 위기를 넘겼고, 포스코는 창사 첫 파업 기로에 섰다.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26864"/>
            <a:ext cx="594360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828032"/>
            <a:ext cx="4535423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🏬 유통업계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9512" y="484632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2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 i="0">
                <a:solidFill>
                  <a:srgbClr val="5F0080"/>
                </a:solidFill>
                <a:latin typeface="Malgun Gothic"/>
                <a:ea typeface="Malgun Gothic"/>
                <a:cs typeface="Malgun Gothic"/>
              </a:rPr>
              <a:t>RETAIL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5303520"/>
            <a:ext cx="82296" cy="82296"/>
          </a:xfrm>
          <a:prstGeom prst="ellipse">
            <a:avLst/>
          </a:prstGeom>
          <a:solidFill>
            <a:srgbClr val="5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32703" y="524865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5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248656"/>
            <a:ext cx="4700016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  <a:hlinkClick r:id="rId2"/>
              </a:rPr>
              <a:t>2027년 최저임금 시간급 10,700원 확정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5769864"/>
            <a:ext cx="5340096" cy="5212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B6474"/>
                </a:solidFill>
                <a:latin typeface="Malgun Gothic"/>
                <a:ea typeface="Malgun Gothic"/>
                <a:cs typeface="Malgun Gothic"/>
              </a:rPr>
              <a:t>최저임금위원회가 제14차 전원회의에서 2027년 적용 최저임금을 10,700원(3.7% 인상)으로 의결했다. 시급제 인력 비중이 큰 물류·배송 현장의 인건비 부담이 커질 전망이다.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6327648"/>
            <a:ext cx="534009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97A0B3"/>
                </a:solidFill>
                <a:latin typeface="Malgun Gothic"/>
                <a:ea typeface="Malgun Gothic"/>
                <a:cs typeface="Malgun Gothic"/>
              </a:rPr>
              <a:t>최저임금위원회 · 2026.07.14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6693408"/>
            <a:ext cx="82296" cy="82296"/>
          </a:xfrm>
          <a:prstGeom prst="ellipse">
            <a:avLst/>
          </a:prstGeom>
          <a:solidFill>
            <a:srgbClr val="5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6638544"/>
            <a:ext cx="5340096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  <a:hlinkClick r:id="rId3"/>
              </a:rPr>
              <a:t>홈플러스, 기습 휴업 통보에 노조 반발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6922008"/>
            <a:ext cx="5340096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B6474"/>
                </a:solidFill>
                <a:latin typeface="Malgun Gothic"/>
                <a:ea typeface="Malgun Gothic"/>
                <a:cs typeface="Malgun Gothic"/>
              </a:rPr>
              <a:t>전 점포에 '출근 후 즉시 퇴근' 지시가 내려가자 마트노조가 사전 협의 없는 일방적 조치라며 강력 반발했다.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7306056"/>
            <a:ext cx="534009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97A0B3"/>
                </a:solidFill>
                <a:latin typeface="Malgun Gothic"/>
                <a:ea typeface="Malgun Gothic"/>
                <a:cs typeface="Malgun Gothic"/>
              </a:rPr>
              <a:t>뉴스핌 · 2026.07.13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" y="7671816"/>
            <a:ext cx="82296" cy="82296"/>
          </a:xfrm>
          <a:prstGeom prst="ellipse">
            <a:avLst/>
          </a:prstGeom>
          <a:solidFill>
            <a:srgbClr val="5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7616952"/>
            <a:ext cx="5340096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  <a:hlinkClick r:id="rId4"/>
              </a:rPr>
              <a:t>마트노조, MBK 규탄 집회…촛불집회 돌입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7900416"/>
            <a:ext cx="5340096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B6474"/>
                </a:solidFill>
                <a:latin typeface="Malgun Gothic"/>
                <a:ea typeface="Malgun Gothic"/>
                <a:cs typeface="Malgun Gothic"/>
              </a:rPr>
              <a:t>마트산업노조가 홈플러스 대주주 MBK파트너스를 규탄하는 집회를 열고, 이후 매일 저녁 촛불집회를 이어가기로 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8284464"/>
            <a:ext cx="534009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97A0B3"/>
                </a:solidFill>
                <a:latin typeface="Malgun Gothic"/>
                <a:ea typeface="Malgun Gothic"/>
                <a:cs typeface="Malgun Gothic"/>
              </a:rPr>
              <a:t>이투데이 · 2026.07.15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" y="8650224"/>
            <a:ext cx="82296" cy="82296"/>
          </a:xfrm>
          <a:prstGeom prst="ellipse">
            <a:avLst/>
          </a:prstGeom>
          <a:solidFill>
            <a:srgbClr val="5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8595360"/>
            <a:ext cx="5340096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  <a:hlinkClick r:id="rId4"/>
              </a:rPr>
              <a:t>홈플러스, 메리츠 이사회 극적 의결로 2000억 확보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9116568"/>
            <a:ext cx="5340096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B6474"/>
                </a:solidFill>
                <a:latin typeface="Malgun Gothic"/>
                <a:ea typeface="Malgun Gothic"/>
                <a:cs typeface="Malgun Gothic"/>
              </a:rPr>
              <a:t>메리츠금융지주 이사회가 진통 끝에 2000억원 DIP 자금 지원을 의결하며 홈플러스가 당장의 파산 위기를 넘겼다.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9500616"/>
            <a:ext cx="534009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97A0B3"/>
                </a:solidFill>
                <a:latin typeface="Malgun Gothic"/>
                <a:ea typeface="Malgun Gothic"/>
                <a:cs typeface="Malgun Gothic"/>
              </a:rPr>
              <a:t>종합보도 · 2026.07.16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10085832"/>
            <a:ext cx="5943600" cy="6647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10287000"/>
            <a:ext cx="4535423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🏢 타 산업군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39512" y="1030528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D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 i="0">
                <a:solidFill>
                  <a:srgbClr val="B8501A"/>
                </a:solidFill>
                <a:latin typeface="Malgun Gothic"/>
                <a:ea typeface="Malgun Gothic"/>
                <a:cs typeface="Malgun Gothic"/>
              </a:rPr>
              <a:t>OTHER</a:t>
            </a:r>
          </a:p>
        </p:txBody>
      </p:sp>
      <p:sp>
        <p:nvSpPr>
          <p:cNvPr id="37" name="Oval 36"/>
          <p:cNvSpPr/>
          <p:nvPr/>
        </p:nvSpPr>
        <p:spPr>
          <a:xfrm>
            <a:off x="658368" y="10762488"/>
            <a:ext cx="82296" cy="82296"/>
          </a:xfrm>
          <a:prstGeom prst="ellipse">
            <a:avLst/>
          </a:prstGeom>
          <a:solidFill>
            <a:srgbClr val="FF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32703" y="10707624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5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" y="10707624"/>
            <a:ext cx="4700016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  <a:hlinkClick r:id="rId5"/>
              </a:rPr>
              <a:t>울산지노위, 현대차 사내하청 '사용자성' 첫 인정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11228832"/>
            <a:ext cx="5340096" cy="5212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B6474"/>
                </a:solidFill>
                <a:latin typeface="Malgun Gothic"/>
                <a:ea typeface="Malgun Gothic"/>
                <a:cs typeface="Malgun Gothic"/>
              </a:rPr>
              <a:t>노란봉투법 시행 후 완성차 업계 첫 사례로, 원청이 사내하청 생산직·구내식당·보안인력에 대해 사용자성이 있다고 판단했다. 원청-위탁 구조 전반에 파급력이 예상된다.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11786616"/>
            <a:ext cx="534009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97A0B3"/>
                </a:solidFill>
                <a:latin typeface="Malgun Gothic"/>
                <a:ea typeface="Malgun Gothic"/>
                <a:cs typeface="Malgun Gothic"/>
              </a:rPr>
              <a:t>아주경제 · 2026.07.15</a:t>
            </a:r>
          </a:p>
        </p:txBody>
      </p:sp>
      <p:sp>
        <p:nvSpPr>
          <p:cNvPr id="42" name="Oval 41"/>
          <p:cNvSpPr/>
          <p:nvPr/>
        </p:nvSpPr>
        <p:spPr>
          <a:xfrm>
            <a:off x="658368" y="12152376"/>
            <a:ext cx="82296" cy="82296"/>
          </a:xfrm>
          <a:prstGeom prst="ellipse">
            <a:avLst/>
          </a:prstGeom>
          <a:solidFill>
            <a:srgbClr val="FF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632703" y="1209751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5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CHECK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" y="12097512"/>
            <a:ext cx="4700016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  <a:hlinkClick r:id="rId6"/>
              </a:rPr>
              <a:t>민주노총, 노란봉투법 시행 후 첫 총파업 돌입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" y="12618720"/>
            <a:ext cx="5340096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B6474"/>
                </a:solidFill>
                <a:latin typeface="Malgun Gothic"/>
                <a:ea typeface="Malgun Gothic"/>
                <a:cs typeface="Malgun Gothic"/>
              </a:rPr>
              <a:t>서울 1만명·전국 10만명 규모로 총파업대회를 열고 원청의 사용자 책임 인정을 요구했다. 8~9월 추가 투쟁도 예고했다.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" y="13002768"/>
            <a:ext cx="534009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97A0B3"/>
                </a:solidFill>
                <a:latin typeface="Malgun Gothic"/>
                <a:ea typeface="Malgun Gothic"/>
                <a:cs typeface="Malgun Gothic"/>
              </a:rPr>
              <a:t>뉴스핌 · 2026.07.15</a:t>
            </a:r>
          </a:p>
        </p:txBody>
      </p:sp>
      <p:sp>
        <p:nvSpPr>
          <p:cNvPr id="47" name="Oval 46"/>
          <p:cNvSpPr/>
          <p:nvPr/>
        </p:nvSpPr>
        <p:spPr>
          <a:xfrm>
            <a:off x="658368" y="13368528"/>
            <a:ext cx="82296" cy="82296"/>
          </a:xfrm>
          <a:prstGeom prst="ellipse">
            <a:avLst/>
          </a:prstGeom>
          <a:solidFill>
            <a:srgbClr val="FF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" y="13313664"/>
            <a:ext cx="5340096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  <a:hlinkClick r:id="rId7"/>
              </a:rPr>
              <a:t>현대차 노조, 부분파업 지속…임단협 장기전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" y="13597128"/>
            <a:ext cx="5340096" cy="5212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B6474"/>
                </a:solidFill>
                <a:latin typeface="Malgun Gothic"/>
                <a:ea typeface="Malgun Gothic"/>
                <a:cs typeface="Malgun Gothic"/>
              </a:rPr>
              <a:t>15차 교섭 결렬 후 사흘간 부분파업에 이어 20~22일 추가 부분파업을 의결했다. 기본급 인상폭을 둘러싼 이견이 좁혀지지 않고 있다.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" y="14154912"/>
            <a:ext cx="534009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97A0B3"/>
                </a:solidFill>
                <a:latin typeface="Malgun Gothic"/>
                <a:ea typeface="Malgun Gothic"/>
                <a:cs typeface="Malgun Gothic"/>
              </a:rPr>
              <a:t>파이낸셜뉴스 · 2026.07.13</a:t>
            </a:r>
          </a:p>
        </p:txBody>
      </p:sp>
      <p:sp>
        <p:nvSpPr>
          <p:cNvPr id="51" name="Oval 50"/>
          <p:cNvSpPr/>
          <p:nvPr/>
        </p:nvSpPr>
        <p:spPr>
          <a:xfrm>
            <a:off x="658368" y="14520672"/>
            <a:ext cx="82296" cy="82296"/>
          </a:xfrm>
          <a:prstGeom prst="ellipse">
            <a:avLst/>
          </a:prstGeom>
          <a:solidFill>
            <a:srgbClr val="FF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9536" y="14465808"/>
            <a:ext cx="5340096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  <a:hlinkClick r:id="rId8"/>
              </a:rPr>
              <a:t>포스코, 58년 무분규 기록 깨지나…쟁의행위 가결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" y="14987016"/>
            <a:ext cx="5340096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B6474"/>
                </a:solidFill>
                <a:latin typeface="Malgun Gothic"/>
                <a:ea typeface="Malgun Gothic"/>
                <a:cs typeface="Malgun Gothic"/>
              </a:rPr>
              <a:t>임금·복지와 협력사 직고용 문제를 두고 노사가 충돌, 쟁의행위 찬반투표가 가결되며 창사 이래 첫 파업 가능성이 커졌다.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" y="15371064"/>
            <a:ext cx="534009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97A0B3"/>
                </a:solidFill>
                <a:latin typeface="Malgun Gothic"/>
                <a:ea typeface="Malgun Gothic"/>
                <a:cs typeface="Malgun Gothic"/>
              </a:rPr>
              <a:t>아시아투데이 · 2026.07.13</a:t>
            </a:r>
          </a:p>
        </p:txBody>
      </p:sp>
      <p:sp>
        <p:nvSpPr>
          <p:cNvPr id="55" name="Oval 54"/>
          <p:cNvSpPr/>
          <p:nvPr/>
        </p:nvSpPr>
        <p:spPr>
          <a:xfrm>
            <a:off x="658368" y="15736824"/>
            <a:ext cx="82296" cy="82296"/>
          </a:xfrm>
          <a:prstGeom prst="ellipse">
            <a:avLst/>
          </a:prstGeom>
          <a:solidFill>
            <a:srgbClr val="FF7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" y="15681960"/>
            <a:ext cx="5340096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  <a:hlinkClick r:id="rId9"/>
              </a:rPr>
              <a:t>금융노조, 주4.5일제 두고 하투 격화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9536" y="15965424"/>
            <a:ext cx="5340096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B6474"/>
                </a:solidFill>
                <a:latin typeface="Malgun Gothic"/>
                <a:ea typeface="Malgun Gothic"/>
                <a:cs typeface="Malgun Gothic"/>
              </a:rPr>
              <a:t>임단협 결렬에 이어 중노위 조정도 난항을 겪으며 금융노조의 하계 투쟁 수위가 높아지고 있다.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9536" y="16349472"/>
            <a:ext cx="5340096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97A0B3"/>
                </a:solidFill>
                <a:latin typeface="Malgun Gothic"/>
                <a:ea typeface="Malgun Gothic"/>
                <a:cs typeface="Malgun Gothic"/>
              </a:rPr>
              <a:t>아주경제 · 2026.07.16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16934688"/>
            <a:ext cx="3200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97A0B3"/>
                </a:solidFill>
                <a:latin typeface="Malgun Gothic"/>
                <a:ea typeface="Malgun Gothic"/>
                <a:cs typeface="Malgun Gothic"/>
              </a:rPr>
              <a:t>노사동향 위클리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0" y="16934688"/>
            <a:ext cx="3200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97A0B3"/>
                </a:solidFill>
                <a:latin typeface="Malgun Gothic"/>
                <a:ea typeface="Malgun Gothic"/>
                <a:cs typeface="Malgun Gothic"/>
              </a:rPr>
              <a:t>발행일 2026.07.18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7666208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5943600" cy="16751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B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va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77240"/>
            <a:ext cx="502920" cy="502920"/>
          </a:xfrm>
          <a:prstGeom prst="ellipse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44751" y="777240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📝 담당자 코멘트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394960" cy="9144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394960" cy="1519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A7AEB8"/>
                </a:solidFill>
                <a:latin typeface="Malgun Gothic"/>
                <a:ea typeface="Malgun Gothic"/>
                <a:cs typeface="Malgun Gothic"/>
              </a:rPr>
              <a:t>여기에 의견을 작성하세요.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