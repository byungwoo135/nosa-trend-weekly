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6858000" cy="170352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7035272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417320"/>
          </a:xfrm>
          <a:prstGeom prst="rect">
            <a:avLst/>
          </a:prstGeom>
          <a:gradFill rotWithShape="1">
            <a:gsLst>
              <a:gs pos="0">
                <a:srgbClr val="5F0080"/>
              </a:gs>
              <a:gs pos="100000">
                <a:srgbClr val="3D0053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6858000" cy="45720"/>
          </a:xfrm>
          <a:prstGeom prst="rect">
            <a:avLst/>
          </a:prstGeom>
          <a:solidFill>
            <a:srgbClr val="FF7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92608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7B3C"/>
                </a:solidFill>
                <a:latin typeface="Malgun Gothic"/>
              </a:rPr>
              <a:t>WEEKLY HR TREND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6928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algun Gothic"/>
              </a:rPr>
              <a:t>노사동향 주간 리포트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2412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3C6F0"/>
                </a:solidFill>
                <a:latin typeface="Malgun Gothic"/>
              </a:rPr>
              <a:t>2026.07.06 ~ 2026.07.12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64208"/>
            <a:ext cx="5943600" cy="2999232"/>
          </a:xfrm>
          <a:prstGeom prst="roundRect">
            <a:avLst>
              <a:gd name="adj" fmla="val 6000"/>
            </a:avLst>
          </a:prstGeom>
          <a:solidFill>
            <a:srgbClr val="F2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664208"/>
            <a:ext cx="54864" cy="2999232"/>
          </a:xfrm>
          <a:prstGeom prst="rect">
            <a:avLst/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65376"/>
            <a:ext cx="5541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F0080"/>
                </a:solidFill>
                <a:latin typeface="Malgun Gothic"/>
              </a:rPr>
              <a:t>📌 이번 주 한눈에 보기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139696"/>
            <a:ext cx="53949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</a:rPr>
              <a:t>●  대법원이 CJ대한통운 원청의 교섭의무를 부정한 반면 배달 라이더는 근로자성을 처음 인정받아, 위탁 배송기사 지위를 둘러싼 법적 공방이 커졌다.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53949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</a:rPr>
              <a:t>●  홈플러스가 회생절차 폐지 결정으로 대규모 고용 위기에 직면하며 유통업계 구조조정 우려가 확산됐다.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77056"/>
            <a:ext cx="53949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</a:rPr>
              <a:t>●  민주노총의 총파업 선포와 현대차·금융노조 임단협 갈등으로 하반기 노사 긴장이 고조되고 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864608"/>
            <a:ext cx="5943600" cy="56052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5065776"/>
            <a:ext cx="453542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Malgun Gothic"/>
              </a:rPr>
              <a:t>🏬 유통업계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39512" y="5084064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F2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5F0080"/>
                </a:solidFill>
                <a:latin typeface="Malgun Gothic"/>
              </a:rPr>
              <a:t>RETAIL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5541264"/>
            <a:ext cx="82296" cy="82296"/>
          </a:xfrm>
          <a:prstGeom prst="ellipse">
            <a:avLst/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32703" y="5486400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850" b="1">
                <a:solidFill>
                  <a:srgbClr val="FFFFFF"/>
                </a:solidFill>
                <a:latin typeface="Malgun Gothic"/>
              </a:rPr>
              <a:t>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5486400"/>
            <a:ext cx="47000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</a:rPr>
              <a:t>배달 라이더 근로자성, 법원 첫 인정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5769864"/>
            <a:ext cx="5340096" cy="521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</a:rPr>
              <a:t>서울고법이 배달대행 플랫폼 라이더에 대해 근로기준법상 근로자 지위를 처음 인정했다. 최저임금·퇴직금·부당해고 제한 요구 확산이 예상된다.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6327648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</a:rPr>
              <a:t>경향신문 · 2026.07.07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" y="6693407"/>
            <a:ext cx="82296" cy="82296"/>
          </a:xfrm>
          <a:prstGeom prst="ellipse">
            <a:avLst/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632703" y="6638544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850" b="1">
                <a:solidFill>
                  <a:srgbClr val="FFFFFF"/>
                </a:solidFill>
                <a:latin typeface="Malgun Gothic"/>
              </a:rPr>
              <a:t>CHECK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6638544"/>
            <a:ext cx="470001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</a:rPr>
              <a:t>대법원 "CJ대한통운, 택배기사 교섭의무 없다"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" y="7159752"/>
            <a:ext cx="5340096" cy="521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</a:rPr>
              <a:t>대법원이 원청과 택배기사 간 명시적 근로계약이 없다는 이유로 CJ대한통운의 단체교섭 의무를 부정하며 원심을 파기환송했다. 택배노조는 강하게 반발했다.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7717536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</a:rPr>
              <a:t>뉴스핌 · 2026.07.09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" y="8083296"/>
            <a:ext cx="82296" cy="82296"/>
          </a:xfrm>
          <a:prstGeom prst="ellipse">
            <a:avLst/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8028431"/>
            <a:ext cx="5340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</a:rPr>
              <a:t>홈플러스 회생절차 폐지…마트노조 비상투쟁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8311896"/>
            <a:ext cx="5340096" cy="521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</a:rPr>
              <a:t>서울회생법원이 회생계획의 실행가능성 부족을 이유로 회생절차 폐지를 결정했다. 마트산업노조는 DIP 자금 확보 실패 시 청산이 불가피하다며 정부에 긴급조치를 요구했다.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8869680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</a:rPr>
              <a:t>파이낸셜뉴스 · 2026.07.04</a:t>
            </a:r>
          </a:p>
        </p:txBody>
      </p:sp>
      <p:sp>
        <p:nvSpPr>
          <p:cNvPr id="31" name="Oval 30"/>
          <p:cNvSpPr/>
          <p:nvPr/>
        </p:nvSpPr>
        <p:spPr>
          <a:xfrm>
            <a:off x="658368" y="9235440"/>
            <a:ext cx="82296" cy="82296"/>
          </a:xfrm>
          <a:prstGeom prst="ellipse">
            <a:avLst/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632703" y="9180576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850" b="1">
                <a:solidFill>
                  <a:srgbClr val="FFFFFF"/>
                </a:solidFill>
                <a:latin typeface="Malgun Gothic"/>
              </a:rPr>
              <a:t>CHECK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" y="9180576"/>
            <a:ext cx="470001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</a:rPr>
              <a:t>쿠팡 퀵플렉스, 표준계약서 이후도 장시간 근무 논란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9701784"/>
            <a:ext cx="53400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</a:rPr>
              <a:t>배송기사들이 표준계약서 의무화 이후에도 단가 인하와 연속 근무 등 과로성 근무 환경을 호소하며 처우 개선을 요구하고 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" y="10085832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</a:rPr>
              <a:t>한국일보 · 2026.07.12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10671048"/>
            <a:ext cx="5943600" cy="5431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10872216"/>
            <a:ext cx="453542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Malgun Gothic"/>
              </a:rPr>
              <a:t>🏢 타 산업군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39512" y="10890504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FDE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B8501A"/>
                </a:solidFill>
                <a:latin typeface="Malgun Gothic"/>
              </a:rPr>
              <a:t>OTHER</a:t>
            </a:r>
          </a:p>
        </p:txBody>
      </p:sp>
      <p:sp>
        <p:nvSpPr>
          <p:cNvPr id="39" name="Oval 38"/>
          <p:cNvSpPr/>
          <p:nvPr/>
        </p:nvSpPr>
        <p:spPr>
          <a:xfrm>
            <a:off x="658368" y="11347704"/>
            <a:ext cx="82296" cy="82296"/>
          </a:xfrm>
          <a:prstGeom prst="ellipse">
            <a:avLst/>
          </a:prstGeom>
          <a:solidFill>
            <a:srgbClr val="FF7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632703" y="11292840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5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850" b="1">
                <a:solidFill>
                  <a:srgbClr val="FFFFFF"/>
                </a:solidFill>
                <a:latin typeface="Malgun Gothic"/>
              </a:rPr>
              <a:t>CHECK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6" y="11292840"/>
            <a:ext cx="47000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</a:rPr>
              <a:t>민주노총, 원청교섭 압박 총파업 선포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536" y="11576304"/>
            <a:ext cx="5340096" cy="521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</a:rPr>
              <a:t>개정 노동조합법(노란봉투법) 시행 이후에도 하청노조의 원청교섭이 실질적으로 이뤄지지 않는다며 15일 총파업을 선포, 8~9월까지 투쟁을 이어가겠다고 예고했다.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" y="12134088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</a:rPr>
              <a:t>뉴스핌 · 2026.07.08</a:t>
            </a:r>
          </a:p>
        </p:txBody>
      </p:sp>
      <p:sp>
        <p:nvSpPr>
          <p:cNvPr id="44" name="Oval 43"/>
          <p:cNvSpPr/>
          <p:nvPr/>
        </p:nvSpPr>
        <p:spPr>
          <a:xfrm>
            <a:off x="658368" y="12499848"/>
            <a:ext cx="82296" cy="82296"/>
          </a:xfrm>
          <a:prstGeom prst="ellipse">
            <a:avLst/>
          </a:prstGeom>
          <a:solidFill>
            <a:srgbClr val="FF7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536" y="12444984"/>
            <a:ext cx="5340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</a:rPr>
              <a:t>현대차 노사협상 결렬 위기…노조 "납득 못해"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" y="12728448"/>
            <a:ext cx="5340096" cy="521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</a:rPr>
              <a:t>사측이 기본급 8만4000원 인상과 성과금 350%+950만원 등 추가 제시안을 냈지만 노조는 받아들일 수 없다며 쟁의대책위 논의에 들어갔다.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9536" y="13286232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</a:rPr>
              <a:t>머니투데이 · 2026.07.07</a:t>
            </a:r>
          </a:p>
        </p:txBody>
      </p:sp>
      <p:sp>
        <p:nvSpPr>
          <p:cNvPr id="48" name="Oval 47"/>
          <p:cNvSpPr/>
          <p:nvPr/>
        </p:nvSpPr>
        <p:spPr>
          <a:xfrm>
            <a:off x="658368" y="13651992"/>
            <a:ext cx="82296" cy="82296"/>
          </a:xfrm>
          <a:prstGeom prst="ellipse">
            <a:avLst/>
          </a:prstGeom>
          <a:solidFill>
            <a:srgbClr val="FF7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9536" y="13597128"/>
            <a:ext cx="53400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</a:rPr>
              <a:t>금융노조, 임금·주4.5일제 두고 중노위 조정 돌입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" y="14118336"/>
            <a:ext cx="53400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</a:rPr>
              <a:t>은행권 임단협이 결렬되며 금융노조가 중앙노동위원회에 조정을 신청했다. 임금 인상률과 주4.5일제 도입 여부가 핵심 쟁점이다.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9536" y="14502384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</a:rPr>
              <a:t>디지털타임스 · 2026.07.07</a:t>
            </a:r>
          </a:p>
        </p:txBody>
      </p:sp>
      <p:sp>
        <p:nvSpPr>
          <p:cNvPr id="52" name="Oval 51"/>
          <p:cNvSpPr/>
          <p:nvPr/>
        </p:nvSpPr>
        <p:spPr>
          <a:xfrm>
            <a:off x="658368" y="14868144"/>
            <a:ext cx="82296" cy="82296"/>
          </a:xfrm>
          <a:prstGeom prst="ellipse">
            <a:avLst/>
          </a:prstGeom>
          <a:solidFill>
            <a:srgbClr val="FF7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9536" y="14813280"/>
            <a:ext cx="53400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Malgun Gothic"/>
              </a:rPr>
              <a:t>공무원노조, 임금 7.1% 인상 요구 대규모 집회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9536" y="15334488"/>
            <a:ext cx="53400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474"/>
                </a:solidFill>
                <a:latin typeface="Malgun Gothic"/>
              </a:rPr>
              <a:t>공노총이 2027년도 임금 7.1% 인상과 연금 소득공백 해소를 요구하며 광화문에서 약 2만 명 규모의 노동자대회를 열었다.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9536" y="15718536"/>
            <a:ext cx="53400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7A0B3"/>
                </a:solidFill>
                <a:latin typeface="Malgun Gothic"/>
              </a:rPr>
              <a:t>브릿지경제 · 2026.07.11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16303752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7A0B3"/>
                </a:solidFill>
                <a:latin typeface="Malgun Gothic"/>
              </a:rPr>
              <a:t>노사동향 위클리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00400" y="16303752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7A0B3"/>
                </a:solidFill>
                <a:latin typeface="Malgun Gothic"/>
              </a:rPr>
              <a:t>발행일 2026.07.18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7035272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5943600" cy="161208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B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777240"/>
            <a:ext cx="502920" cy="502920"/>
          </a:xfrm>
          <a:prstGeom prst="ellipse">
            <a:avLst/>
          </a:prstGeom>
          <a:solidFill>
            <a:srgbClr val="EA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/>
              <a:t>🧑‍💼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4751" y="777240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6213E"/>
                </a:solidFill>
                <a:latin typeface="Malgun Gothic"/>
              </a:rPr>
              <a:t>📝 담당자 코멘트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5394960" cy="9144"/>
          </a:xfrm>
          <a:prstGeom prst="rect">
            <a:avLst/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394960" cy="14566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A7AEB8"/>
                </a:solidFill>
                <a:latin typeface="Malgun Gothic"/>
              </a:rPr>
              <a:t>여기에 의견을 작성하세요.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